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ba2dbb5a974ef2" /><Relationship Type="http://schemas.openxmlformats.org/officeDocument/2006/relationships/extended-properties" Target="/docProps/app.xml" Id="R578da13e56af44fb" /><Relationship Type="http://schemas.openxmlformats.org/officeDocument/2006/relationships/officeDocument" Target="/ppt/presentation.xml" Id="R6585d2538029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63924560a44f5d"/>
  </p:sldMasterIdLst>
  <p:notesMasterIdLst>
    <p:notesMasterId xmlns:r="http://schemas.openxmlformats.org/officeDocument/2006/relationships" r:id="Ra6137dec95444504"/>
  </p:notesMasterIdLst>
  <p:sldIdLst>
    <p:sldId xmlns:r="http://schemas.openxmlformats.org/officeDocument/2006/relationships" id="256" r:id="Rea080b3a5b684ef4"/>
    <p:sldId xmlns:r="http://schemas.openxmlformats.org/officeDocument/2006/relationships" id="257" r:id="R8a5f5b48cfcb486f"/>
    <p:sldId xmlns:r="http://schemas.openxmlformats.org/officeDocument/2006/relationships" id="258" r:id="R92f6da7df6394402"/>
    <p:sldId xmlns:r="http://schemas.openxmlformats.org/officeDocument/2006/relationships" id="259" r:id="R5dd3bacf942145e5"/>
    <p:sldId xmlns:r="http://schemas.openxmlformats.org/officeDocument/2006/relationships" id="260" r:id="R4e3a33d046e748d2"/>
    <p:sldId xmlns:r="http://schemas.openxmlformats.org/officeDocument/2006/relationships" id="261" r:id="Rd8b0a78e1c684eb4"/>
    <p:sldId xmlns:r="http://schemas.openxmlformats.org/officeDocument/2006/relationships" id="262" r:id="R31b1078ad17b416c"/>
    <p:sldId xmlns:r="http://schemas.openxmlformats.org/officeDocument/2006/relationships" id="263" r:id="R1e268c132bd04682"/>
    <p:sldId xmlns:r="http://schemas.openxmlformats.org/officeDocument/2006/relationships" id="264" r:id="Rfdcec846107847cd"/>
    <p:sldId xmlns:r="http://schemas.openxmlformats.org/officeDocument/2006/relationships" id="265" r:id="Re829e930adcd438d"/>
    <p:sldId xmlns:r="http://schemas.openxmlformats.org/officeDocument/2006/relationships" id="266" r:id="Ree0d136600df429f"/>
    <p:sldId xmlns:r="http://schemas.openxmlformats.org/officeDocument/2006/relationships" id="267" r:id="R480620638bf844a0"/>
    <p:sldId xmlns:r="http://schemas.openxmlformats.org/officeDocument/2006/relationships" id="268" r:id="Rbd3d19a7cddd41ea"/>
    <p:sldId xmlns:r="http://schemas.openxmlformats.org/officeDocument/2006/relationships" id="269" r:id="R0af0aa0f45434024"/>
    <p:sldId xmlns:r="http://schemas.openxmlformats.org/officeDocument/2006/relationships" id="270" r:id="R83d588d72c134aba"/>
    <p:sldId xmlns:r="http://schemas.openxmlformats.org/officeDocument/2006/relationships" id="271" r:id="R525932f5ec064dff"/>
    <p:sldId xmlns:r="http://schemas.openxmlformats.org/officeDocument/2006/relationships" id="272" r:id="Rf2e650f1a77f46ff"/>
    <p:sldId xmlns:r="http://schemas.openxmlformats.org/officeDocument/2006/relationships" id="273" r:id="R9c19ee56e8f34a4b"/>
    <p:sldId xmlns:r="http://schemas.openxmlformats.org/officeDocument/2006/relationships" id="274" r:id="R077479b731b6419b"/>
    <p:sldId xmlns:r="http://schemas.openxmlformats.org/officeDocument/2006/relationships" id="275" r:id="Rf51d5a3550654f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abfeb25a5f4ee0" /><Relationship Type="http://schemas.openxmlformats.org/officeDocument/2006/relationships/slideMaster" Target="/ppt/slideMasters/slideMaster1.xml" Id="R1263924560a44f5d" /><Relationship Type="http://schemas.openxmlformats.org/officeDocument/2006/relationships/notesMaster" Target="/ppt/notesMasters/notesMaster1.xml" Id="Ra6137dec95444504" /><Relationship Type="http://schemas.openxmlformats.org/officeDocument/2006/relationships/presProps" Target="/ppt/presProps.xml" Id="Rdb2d0b8a213048e6" /><Relationship Type="http://schemas.openxmlformats.org/officeDocument/2006/relationships/tableStyles" Target="/ppt/tableStyles.xml" Id="R7fdff03d62724eec" /><Relationship Type="http://schemas.openxmlformats.org/officeDocument/2006/relationships/slide" Target="/ppt/slides/slide1.xml" Id="Rea080b3a5b684ef4" /><Relationship Type="http://schemas.openxmlformats.org/officeDocument/2006/relationships/slide" Target="/ppt/slides/slide2.xml" Id="R8a5f5b48cfcb486f" /><Relationship Type="http://schemas.openxmlformats.org/officeDocument/2006/relationships/slide" Target="/ppt/slides/slide3.xml" Id="R92f6da7df6394402" /><Relationship Type="http://schemas.openxmlformats.org/officeDocument/2006/relationships/slide" Target="/ppt/slides/slide4.xml" Id="R5dd3bacf942145e5" /><Relationship Type="http://schemas.openxmlformats.org/officeDocument/2006/relationships/slide" Target="/ppt/slides/slide5.xml" Id="R4e3a33d046e748d2" /><Relationship Type="http://schemas.openxmlformats.org/officeDocument/2006/relationships/slide" Target="/ppt/slides/slide6.xml" Id="Rd8b0a78e1c684eb4" /><Relationship Type="http://schemas.openxmlformats.org/officeDocument/2006/relationships/slide" Target="/ppt/slides/slide7.xml" Id="R31b1078ad17b416c" /><Relationship Type="http://schemas.openxmlformats.org/officeDocument/2006/relationships/slide" Target="/ppt/slides/slide8.xml" Id="R1e268c132bd04682" /><Relationship Type="http://schemas.openxmlformats.org/officeDocument/2006/relationships/slide" Target="/ppt/slides/slide9.xml" Id="Rfdcec846107847cd" /><Relationship Type="http://schemas.openxmlformats.org/officeDocument/2006/relationships/slide" Target="/ppt/slides/slide10.xml" Id="Re829e930adcd438d" /><Relationship Type="http://schemas.openxmlformats.org/officeDocument/2006/relationships/slide" Target="/ppt/slides/slide11.xml" Id="Ree0d136600df429f" /><Relationship Type="http://schemas.openxmlformats.org/officeDocument/2006/relationships/slide" Target="/ppt/slides/slide12.xml" Id="R480620638bf844a0" /><Relationship Type="http://schemas.openxmlformats.org/officeDocument/2006/relationships/slide" Target="/ppt/slides/slide13.xml" Id="Rbd3d19a7cddd41ea" /><Relationship Type="http://schemas.openxmlformats.org/officeDocument/2006/relationships/slide" Target="/ppt/slides/slide14.xml" Id="R0af0aa0f45434024" /><Relationship Type="http://schemas.openxmlformats.org/officeDocument/2006/relationships/slide" Target="/ppt/slides/slide15.xml" Id="R83d588d72c134aba" /><Relationship Type="http://schemas.openxmlformats.org/officeDocument/2006/relationships/slide" Target="/ppt/slides/slide16.xml" Id="R525932f5ec064dff" /><Relationship Type="http://schemas.openxmlformats.org/officeDocument/2006/relationships/slide" Target="/ppt/slides/slide17.xml" Id="Rf2e650f1a77f46ff" /><Relationship Type="http://schemas.openxmlformats.org/officeDocument/2006/relationships/slide" Target="/ppt/slides/slide18.xml" Id="R9c19ee56e8f34a4b" /><Relationship Type="http://schemas.openxmlformats.org/officeDocument/2006/relationships/slide" Target="/ppt/slides/slide19.xml" Id="R077479b731b6419b" /><Relationship Type="http://schemas.openxmlformats.org/officeDocument/2006/relationships/slide" Target="/ppt/slides/slide20.xml" Id="Rf51d5a3550654f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d94a6cb18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c270d4f5b4906" /><Relationship Type="http://schemas.openxmlformats.org/officeDocument/2006/relationships/notesMaster" Target="/ppt/notesMasters/notesMaster1.xml" Id="Radc4358452b242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b0a81cc3748a0" /><Relationship Type="http://schemas.openxmlformats.org/officeDocument/2006/relationships/notesMaster" Target="/ppt/notesMasters/notesMaster1.xml" Id="R463e4348e8c843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5faf32c704b0c" /><Relationship Type="http://schemas.openxmlformats.org/officeDocument/2006/relationships/notesMaster" Target="/ppt/notesMasters/notesMaster1.xml" Id="R9ce0b31a157b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67e6d0aa74af3" /><Relationship Type="http://schemas.openxmlformats.org/officeDocument/2006/relationships/notesMaster" Target="/ppt/notesMasters/notesMaster1.xml" Id="R613951fe0646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3b41432f5419b" /><Relationship Type="http://schemas.openxmlformats.org/officeDocument/2006/relationships/notesMaster" Target="/ppt/notesMasters/notesMaster1.xml" Id="R5f642b940876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f4ad536a14039" /><Relationship Type="http://schemas.openxmlformats.org/officeDocument/2006/relationships/notesMaster" Target="/ppt/notesMasters/notesMaster1.xml" Id="Ra09c541e7e36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2dbfd204ec4aad" /><Relationship Type="http://schemas.openxmlformats.org/officeDocument/2006/relationships/notesMaster" Target="/ppt/notesMasters/notesMaster1.xml" Id="R64ce9139052144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5e7effda124124" /><Relationship Type="http://schemas.openxmlformats.org/officeDocument/2006/relationships/notesMaster" Target="/ppt/notesMasters/notesMaster1.xml" Id="R32a0d09af8124a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b8caddcc88499c" /><Relationship Type="http://schemas.openxmlformats.org/officeDocument/2006/relationships/notesMaster" Target="/ppt/notesMasters/notesMaster1.xml" Id="Reb161ef60b084f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ad1f3559c944cb" /><Relationship Type="http://schemas.openxmlformats.org/officeDocument/2006/relationships/notesMaster" Target="/ppt/notesMasters/notesMaster1.xml" Id="Ra38a9c082f7d4e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64f61460ce4a16" /><Relationship Type="http://schemas.openxmlformats.org/officeDocument/2006/relationships/notesMaster" Target="/ppt/notesMasters/notesMaster1.xml" Id="Rcd0e2b48960048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e7dc0814c445bc" /><Relationship Type="http://schemas.openxmlformats.org/officeDocument/2006/relationships/notesMaster" Target="/ppt/notesMasters/notesMaster1.xml" Id="R36836f4205d640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590064ab3941d7" /><Relationship Type="http://schemas.openxmlformats.org/officeDocument/2006/relationships/notesMaster" Target="/ppt/notesMasters/notesMaster1.xml" Id="R3b9c68b83d1242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cc6cec1d024a2e" /><Relationship Type="http://schemas.openxmlformats.org/officeDocument/2006/relationships/notesMaster" Target="/ppt/notesMasters/notesMaster1.xml" Id="R2e46e30e8e3740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7c0826e92d4980" /><Relationship Type="http://schemas.openxmlformats.org/officeDocument/2006/relationships/notesMaster" Target="/ppt/notesMasters/notesMaster1.xml" Id="R2d7b09773f3e47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8539abcb6841fd" /><Relationship Type="http://schemas.openxmlformats.org/officeDocument/2006/relationships/notesMaster" Target="/ppt/notesMasters/notesMaster1.xml" Id="R4ab21991bb524b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71761195864f8d" /><Relationship Type="http://schemas.openxmlformats.org/officeDocument/2006/relationships/notesMaster" Target="/ppt/notesMasters/notesMaster1.xml" Id="Ra5081bdc78b44d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e3e6a69bb34142" /><Relationship Type="http://schemas.openxmlformats.org/officeDocument/2006/relationships/notesMaster" Target="/ppt/notesMasters/notesMaster1.xml" Id="Rac1068abada645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25cdbcbed64372" /><Relationship Type="http://schemas.openxmlformats.org/officeDocument/2006/relationships/notesMaster" Target="/ppt/notesMasters/notesMaster1.xml" Id="Re4106738254b40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0cee6b988d4c0f" /><Relationship Type="http://schemas.openxmlformats.org/officeDocument/2006/relationships/notesMaster" Target="/ppt/notesMasters/notesMaster1.xml" Id="R907ac7c27ee44a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bb35aa4e042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6a29c37a7429b" /><Relationship Type="http://schemas.openxmlformats.org/officeDocument/2006/relationships/slideLayout" Target="/ppt/slideLayouts/slideLayout1.xml" Id="Rcfd0535c4b1945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0535c4b1945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d40068cd5497f" /><Relationship Type="http://schemas.openxmlformats.org/officeDocument/2006/relationships/notesSlide" Target="/ppt/notesSlides/notesSlide1.xml" Id="R5afa82a59cdf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9b95d5239416e" /><Relationship Type="http://schemas.openxmlformats.org/officeDocument/2006/relationships/notesSlide" Target="/ppt/notesSlides/notesSlide2.xml" Id="Rcbbefb17de77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7fecd18fe442d" /><Relationship Type="http://schemas.openxmlformats.org/officeDocument/2006/relationships/notesSlide" Target="/ppt/notesSlides/notesSlide3.xml" Id="Rbb097f52aa014c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66d467de64064" /><Relationship Type="http://schemas.openxmlformats.org/officeDocument/2006/relationships/notesSlide" Target="/ppt/notesSlides/notesSlide4.xml" Id="R9f27ec310f48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508d55dfe4fdc" /><Relationship Type="http://schemas.openxmlformats.org/officeDocument/2006/relationships/notesSlide" Target="/ppt/notesSlides/notesSlide5.xml" Id="R87e58cc78c5b47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ff7aae5f94e0d" /><Relationship Type="http://schemas.openxmlformats.org/officeDocument/2006/relationships/notesSlide" Target="/ppt/notesSlides/notesSlide6.xml" Id="Rff707e7f96f84e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242afb4c24962" /><Relationship Type="http://schemas.openxmlformats.org/officeDocument/2006/relationships/notesSlide" Target="/ppt/notesSlides/notesSlide7.xml" Id="Ra69f7852b93d4a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b9c6ae3db4bef" /><Relationship Type="http://schemas.openxmlformats.org/officeDocument/2006/relationships/notesSlide" Target="/ppt/notesSlides/notesSlide8.xml" Id="R34fcb108643a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a4586ab94e08" /><Relationship Type="http://schemas.openxmlformats.org/officeDocument/2006/relationships/notesSlide" Target="/ppt/notesSlides/notesSlide9.xml" Id="Rf71ba94109f44b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22bfe24354dcd" /><Relationship Type="http://schemas.openxmlformats.org/officeDocument/2006/relationships/notesSlide" Target="/ppt/notesSlides/notesSlide10.xml" Id="R5aa5fea5a5184b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4d036f8974a96" /><Relationship Type="http://schemas.openxmlformats.org/officeDocument/2006/relationships/notesSlide" Target="/ppt/notesSlides/notesSlide11.xml" Id="R552fc83d093947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0ffdf73b74c58" /><Relationship Type="http://schemas.openxmlformats.org/officeDocument/2006/relationships/notesSlide" Target="/ppt/notesSlides/notesSlide12.xml" Id="R75c8456ea1da43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8cd8fc8884628" /><Relationship Type="http://schemas.openxmlformats.org/officeDocument/2006/relationships/notesSlide" Target="/ppt/notesSlides/notesSlide13.xml" Id="Rd3752f37c545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63e9e8abc4d31" /><Relationship Type="http://schemas.openxmlformats.org/officeDocument/2006/relationships/notesSlide" Target="/ppt/notesSlides/notesSlide14.xml" Id="R131f4704289846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09e248dc4e15" /><Relationship Type="http://schemas.openxmlformats.org/officeDocument/2006/relationships/notesSlide" Target="/ppt/notesSlides/notesSlide15.xml" Id="Rc2b5fcae73fe44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b1e8f05a648ab" /><Relationship Type="http://schemas.openxmlformats.org/officeDocument/2006/relationships/notesSlide" Target="/ppt/notesSlides/notesSlide16.xml" Id="Rb271bced621542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ee026ae1c43ff" /><Relationship Type="http://schemas.openxmlformats.org/officeDocument/2006/relationships/notesSlide" Target="/ppt/notesSlides/notesSlide17.xml" Id="R21afbd9699e54c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6b7fdc20404b" /><Relationship Type="http://schemas.openxmlformats.org/officeDocument/2006/relationships/notesSlide" Target="/ppt/notesSlides/notesSlide18.xml" Id="R898ff164f7bc4b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cc2bf8f7a47a6" /><Relationship Type="http://schemas.openxmlformats.org/officeDocument/2006/relationships/notesSlide" Target="/ppt/notesSlides/notesSlide19.xml" Id="Rf6eb3383e0fc46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099f5f60e49e0" /><Relationship Type="http://schemas.openxmlformats.org/officeDocument/2006/relationships/notesSlide" Target="/ppt/notesSlides/notesSlide20.xml" Id="R32d72349a96345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507F9-16D0-4E6C-AF84-E6FA13D7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A"/>
          </a:solidFill>
          <a:ln xmlns:a="http://schemas.openxmlformats.org/drawingml/2006/main" w="0">
            <a:solidFill>
              <a:srgbClr val="132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361B3-B58A-48DD-83DA-BAB60247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A0624-C4A3-4035-813B-4EF4A95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THE GRAVITY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9DFD-5454-4D37-9331-B315219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3345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Sales Intelligence
&amp;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41BA6-A3BD-4B0B-BE08-DC59C7A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AF2F4"/>
                </a:solidFill>
                <a:latin typeface="Aptos"/>
                <a:ea typeface="Aptos"/>
                <a:cs typeface="Aptos"/>
              </a:defRPr>
            </a:pPr>
            <a:r>
              <a:t>Use yesterday’s evidence to forecast tomorrow’s demand—and schedule the labor required to deliver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8A9C5-612F-47C3-8465-19DBDA73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6166A-A78E-4FCF-B4EB-CD66C1C4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9906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A23B"/>
                </a:solidFill>
                <a:latin typeface="Aptos"/>
                <a:ea typeface="Aptos"/>
                <a:cs typeface="Aptos"/>
              </a:defRPr>
            </a:pPr>
            <a:r>
              <a:t>Record → Explain → Compare → Forecast → Staff → Review → Preserve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825D3-D96C-48E3-B7A7-74C0FED2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6191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4"/>
                </a:solidFill>
                <a:latin typeface="Aptos"/>
                <a:ea typeface="Aptos"/>
                <a:cs typeface="Aptos"/>
              </a:defRPr>
            </a:pPr>
            <a:r>
              <a:t>Thomas Monroe Books  |  Created by Thomas Butler</a:t>
            </a:r>
          </a:p>
        </p:txBody>
      </p:sp>
    </p:spTree>
    <p:extLst>
      <p:ext uri="{BB962C8B-B14F-4D97-AF65-F5344CB8AC3E}">
        <p14:creationId xmlns:p14="http://schemas.microsoft.com/office/powerpoint/2010/main" val="1000635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F85E4-C0FC-4265-9EEE-911FCBC3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FE163-BAF2-4A59-8188-F3FD59F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813D6-A7F7-4881-BEA0-7E0A81FE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F0E1-B104-4A1B-82C9-890D6899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Why this system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33B13-820F-4047-BFDA-05C96E70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91019-0B21-4885-A025-1D0A4019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D5397-F098-46C3-A805-8C2E577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0466E-4D67-4C0E-A161-2AB4047C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Sales history without context cannot explain what will happen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55D0A-747A-4A12-876D-D9A7ABD3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EA705-4E2A-477B-8E35-1575239C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Local demand is shaped by weather, school, events, traffic, promotions, capacity, and operating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6CA99-6451-4811-8D43-6F73300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BA65F-20BC-4569-A4CA-63245AB6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Experienced managers often know these patterns—but the knowledge disappears unless it is recorded.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DE698-C3D3-4D74-97A1-B5432EC7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C21E6-6911-4C8F-81DF-1C5E9ADE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The system turns daily observations into a durable forecasting advantage.</a:t>
            </a:r>
          </a:p>
        </p:txBody>
      </p:sp>
    </p:spTree>
    <p:extLst>
      <p:ext uri="{BB962C8B-B14F-4D97-AF65-F5344CB8AC3E}">
        <p14:creationId xmlns:p14="http://schemas.microsoft.com/office/powerpoint/2010/main" val="19882846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186BE-BC14-4445-8E2D-9F62DE33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9468A-85A9-4F87-B2A7-BAC080F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003B-130A-45E6-819C-B230E1C5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75D35-C301-4417-8EF2-0390504E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The system becomes smarter with every completed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D89E9-8D6D-4B63-857D-137CEACA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26E7E-D58C-45AC-B048-018246B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618BD-2B8E-46E7-A124-79CBB319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2AE33-1164-4ECD-87CB-670539D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C1198-18B2-4B84-96A9-9C6D507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More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CEEC8-D285-4352-9861-B176178B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Each day adds a tested combination of sales, guests, weather, calendar conditions, promotions, disruptions, and labor.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3D9A4-80EC-4CA7-A3AD-588E5172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59450-43F5-45A9-B98A-4E74DAA3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F6AAC-7303-4B92-9C7F-7F65B13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Better matches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31A15-0F56-42DC-BF4B-8598626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The comparable-day library grows, making it easier to find prior days that truly resemble the day being forecast.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0FBDB-9568-417B-8C30-E1DDB63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5A259-A541-452E-9113-E2AB329C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7AA67-3000-4713-8EA3-391CDC6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Calibrated judgment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E89DF-9283-4877-9A65-E6DA5EB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Forecast accuracy and bias show which assumptions deserve more—or less—weight over time.</a:t>
            </a:r>
          </a:p>
        </p:txBody>
      </p:sp>
    </p:spTree>
    <p:extLst>
      <p:ext uri="{BB962C8B-B14F-4D97-AF65-F5344CB8AC3E}">
        <p14:creationId xmlns:p14="http://schemas.microsoft.com/office/powerpoint/2010/main" val="16751654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F08A8-A110-4E75-A0C3-6D934C47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E0264-918F-4263-92D3-0C848C1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BAE88-EB39-492C-9F49-E3C70BE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3E55F-BBAA-43E5-BE36-1A94B50F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The seven-stage operating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F7BE-F1B2-40AA-B899-E5531F4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6D3C5-06C1-4C11-BF08-F0E86702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13292-D7C2-4C02-A9F4-704D18C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2D0E5-13A6-4D04-A73C-76868B5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FE854-ED7E-45CC-A0CD-B582BAAB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09875"/>
            <a:ext cx="295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07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DFB29-CE8A-4462-A7D8-6492DB3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D4619-1347-4971-A9DC-DE51A0D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AEADE-2C01-4216-BDD2-84171D78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09875"/>
            <a:ext cx="295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07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8B98F-995D-46EB-8C41-9A3CE8B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967EA-EBF7-4998-BC84-B0F9B45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195DC-8BD3-4EB8-9FF0-41D03EC0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09875"/>
            <a:ext cx="295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07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28FBD-037C-46D5-B405-DF82AF5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9DE04-90E9-4881-8259-BC8A6697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Forecast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D7BC8-D602-49D5-9F07-4354E092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295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07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98BC1-22F6-4C93-BADC-28E4618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4798A-674E-4F49-8C93-BA89B7CD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Staff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CACE1-CFFC-4C05-BCB6-D30220CE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09875"/>
            <a:ext cx="295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07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732EF-1CE6-48AB-AEA0-0969BAD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51762-3007-47F7-9C47-65E7C202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ADC65-1786-448A-A3A9-5620C51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809875"/>
            <a:ext cx="295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07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F6F07-6E13-46C2-83C5-95830FE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94495-DDF3-47CC-876C-60E6589B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43200"/>
            <a:ext cx="119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Preserve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26F2E-9968-4BBA-AE85-12B3D49B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E2EB5-BB74-4309-A777-D6C411BF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979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The loop ends only after the lesson is preserved for the next comparable day and the next year.</a:t>
            </a:r>
          </a:p>
        </p:txBody>
      </p:sp>
    </p:spTree>
    <p:extLst>
      <p:ext uri="{BB962C8B-B14F-4D97-AF65-F5344CB8AC3E}">
        <p14:creationId xmlns:p14="http://schemas.microsoft.com/office/powerpoint/2010/main" val="9610635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61EB4-A1F1-43CA-B169-75526F6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557EB-FA3F-4508-9A80-223A2C62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119CA-5841-4462-9AD7-C331DBF2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24E4E-EE6B-45D6-AD29-AC52932D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Begin with controlled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BDF4D-11F7-454C-8888-D2BF1D7C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BB647-793D-48B2-8B7D-18CD24CF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6DCB1-9E19-4B1E-9B09-8C29AF6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CF3E8-0131-433D-8228-B7C68C0F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F2050-CBBC-4604-89F4-6B72B10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One sales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78F09-DBA0-4C3C-B8FE-8630E09E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Adopt a written net-sales definition, cutoff, tax treatment, and exclusion policy.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C392-0FB9-45DC-8B71-C517BF71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C36A6-EAFF-4448-A677-88E8D2CE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E2E12-91E7-4396-970D-638FD352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One guest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8F067-65F1-415D-9938-5B6F278F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 the same guest-count source and method every day; document system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D93D5-520C-448D-8348-06840672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E784F-5885-42B6-987A-B68D2CB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4DB1-54B5-4CC0-8264-9DC81BBC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One labor definition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533E2-2EF5-4921-B96C-E7A3993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Specify which paid hours count as productive labor and how salaried management is treated.</a:t>
            </a:r>
          </a:p>
        </p:txBody>
      </p:sp>
    </p:spTree>
    <p:extLst>
      <p:ext uri="{BB962C8B-B14F-4D97-AF65-F5344CB8AC3E}">
        <p14:creationId xmlns:p14="http://schemas.microsoft.com/office/powerpoint/2010/main" val="7989255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765AE-E917-4A21-8F3A-1334DD9C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76119-77FF-4B83-BF96-DD675B5D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5636D-D099-4FEF-BBD1-4D1B3066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A05EA-043B-4CE0-8904-541943A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The Daily Sales Intelligence Journal is the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63625-DC7A-4913-B280-7158A5D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5E434-8C37-4E81-B2E1-009E522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75905-85CE-4144-9A8E-0D389CED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AAD9E-33EB-4443-B94F-C193D90F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10267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Record net sales, guest count, average check, and labor hours.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92765-67AC-485D-9414-0795C1DC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7D6DF-C832-4889-BB37-FA2295F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76475"/>
            <a:ext cx="10267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Capture weather severity and timing—not just “rain.”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874CD-C760-49E6-8379-0FB324E1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4E412-3D51-436E-82A7-732AF05B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267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Document school status, local events, parade days, pay cycles, traffic, construction, promotions, and catering.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51EF4-5305-4AE9-8EE0-3435494C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664FE-BA09-4CB8-BFE2-ECF4CFB2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10267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Edit any prior day when a governing factor is learned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A8A89-726B-4FD0-8F2F-5A75A987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305EF-2A25-48EA-814D-371A083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10267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 the Daily Revision Log to preserve the prior understanding, new evidence, editor, approval, and forecast/labor impact.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AD0B0-68D0-4E56-9050-79D649FA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3058F-D086-4AF1-A4D9-A5D5D7A9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10267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End with the observed effect and the lesson a manager should know next year.</a:t>
            </a:r>
          </a:p>
        </p:txBody>
      </p:sp>
    </p:spTree>
    <p:extLst>
      <p:ext uri="{BB962C8B-B14F-4D97-AF65-F5344CB8AC3E}">
        <p14:creationId xmlns:p14="http://schemas.microsoft.com/office/powerpoint/2010/main" val="17005012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3A738-B61D-4E11-9D2A-4A0F0906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5F0DF-6FC3-43A3-8151-1AE54D2D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006AE-61FD-4450-AB9C-1CE73B52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4D9E4-33AE-4FCB-8086-C2848F3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9855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Choose comparable days by demand pattern—not date alone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445D3-9EEE-480D-96E1-5B67721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867C6-801F-45D3-9DA9-B86353E3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D51E3-850A-4BC4-B4FA-BF63E09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E887-90A6-4AC6-A5F4-82C8C40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868E1-1641-4CC3-BF75-652302D3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9A165-9681-467C-B2C3-953CBA47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Weekday, seasonal position, school/calendar status, weather, events, promotion, hours, and capacity.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6A58-F5E0-4489-B757-44A01547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6E59A-D82C-4281-864F-8D0DC34C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D6160-D40E-4D16-B85A-AC34277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1A905-DB25-4107-B465-47F5E193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 the controlled scoring sheet, then assign a reasoned weight to each selected day.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0EDAC-5669-4C38-9815-8FFE10B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133FC-C39B-48F6-9FF2-33148465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86CD1-F111-4390-83F0-93ED11D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Exclude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7A2B0-A837-4B64-B36D-C5CE87AF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Remove unrepeatable disruptions unless the same disruption is expected again.</a:t>
            </a:r>
          </a:p>
        </p:txBody>
      </p:sp>
    </p:spTree>
    <p:extLst>
      <p:ext uri="{BB962C8B-B14F-4D97-AF65-F5344CB8AC3E}">
        <p14:creationId xmlns:p14="http://schemas.microsoft.com/office/powerpoint/2010/main" val="8832660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1F85F-3582-4442-9953-D2457298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17197-4AB5-4263-BF3E-4726B072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D89B8-E351-4C70-B0C8-C07ADB8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C83DA-9451-40D8-ADE3-12713F52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Build the forecast in visible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38D1D-AE2F-4A90-AC6F-324FE37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82483-5842-446B-AF89-F5CD20F8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9D939-B067-4FA7-BF7B-CBF89EA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A4877-F141-453B-AEA2-E226772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Start with the weighted comparable-day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9D726-A94C-4506-B4BA-56BDAF4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CADBA-126B-426B-95DD-25D9E05B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Add recent trend and price/mix adjustments without double counting.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450A6-A76D-4E4D-AB26-BFA1227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ECB13-F97F-45B7-97CE-07A50470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99498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Apply weather, event/calendar, promotion, capacity, and known-sales adjustments separately.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54688-B072-4141-BE81-6F74B82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7002E-8A14-4E4C-B70F-0378A91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Publish low, most-likely, and high outcomes with a confidence level.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32FEB-4233-4F54-B397-B721F60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78B97-A401-475F-B859-3C90E756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Write the primary assumption and secure approval.</a:t>
            </a:r>
          </a:p>
        </p:txBody>
      </p:sp>
    </p:spTree>
    <p:extLst>
      <p:ext uri="{BB962C8B-B14F-4D97-AF65-F5344CB8AC3E}">
        <p14:creationId xmlns:p14="http://schemas.microsoft.com/office/powerpoint/2010/main" val="1505301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01148-4BDF-41EB-B5B1-F35BA5F8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65E61-12D5-4D3E-B9F5-EE56C13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790E1-490B-488F-B492-C4927612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5620C-0B0D-42EF-BFF4-D80115B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Confidence expresses evidence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B5C08-66D3-4054-A879-F9AD32B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A24B0-8BD8-44ED-855A-A7956049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EA394-B26E-474A-B8C0-E07939DE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23A5E-7228-459E-A4ED-34FF53B1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0B1D5-708C-402B-A6D8-A1144917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B61C6-1870-46BE-B484-751E33B7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Strong comparables, stable operations, and known demand drivers. Default range: ±5%.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BBEA1-1C73-447C-B9D0-D31DA9B7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575D3-D270-48AD-82F0-1A1C7B2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DB73A-69B5-4947-BE23-D0A7CA41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Medium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72EC4-39C8-420D-BCF6-8D20F997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Useful history with meaningful uncertainty or mixed signals. Default range: ±10%.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6897A-E669-4C61-83DC-90B1CCBB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BD516-189D-4250-8AF7-FCDCCCB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A6B84-440E-4715-8AC6-4AFA114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72AE1-25B9-4EDD-BA0F-00CABDE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Weak history, unusual conditions, or a new operating pattern. Default range: ±20%.</a:t>
            </a:r>
          </a:p>
        </p:txBody>
      </p:sp>
    </p:spTree>
    <p:extLst>
      <p:ext uri="{BB962C8B-B14F-4D97-AF65-F5344CB8AC3E}">
        <p14:creationId xmlns:p14="http://schemas.microsoft.com/office/powerpoint/2010/main" val="1088460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FA98E-4DC6-4123-8E88-886259A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749B-55FB-4106-8EFD-FDD7213F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15CB-4621-4E11-AC6B-34A43E8F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6F476-E858-473C-A997-B256EF4E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Forecast by daypart and channel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CE075-E9E2-48A1-8945-783D5740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CB52-75F1-4CF6-B987-87C7020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81518-12C2-44F7-972B-C2988AA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B0F0B-1A9A-438E-B50E-11488ED7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Split demand into opening/prep, breakfast, lunch, afternoon, dinner, late night, and closing as applicable.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060DC-2FFF-4852-BCE8-B87C4876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12C3-DDC6-4D7F-ABAD-D4E9AFC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Forecast sales and guests by daypart.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86ED0-6127-4CB8-9B13-4826A0E9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A4C89-282D-47AE-A85C-AADAC0F5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Separate dine-in, takeout, delivery, catering, and other material channels.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B1BD7-BBEC-4D08-A874-ED3AA4A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DFE91-B995-44DA-A254-5479409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 reservation, order, event, and delivery timing to place workload where it occurs.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976C9-E2D7-44E9-AF40-E670529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D6717-4B5A-495E-B615-213F355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 correct daily total can still create a bad schedule if the hours are placed at the wrong times.</a:t>
            </a:r>
          </a:p>
        </p:txBody>
      </p:sp>
    </p:spTree>
    <p:extLst>
      <p:ext uri="{BB962C8B-B14F-4D97-AF65-F5344CB8AC3E}">
        <p14:creationId xmlns:p14="http://schemas.microsoft.com/office/powerpoint/2010/main" val="2188802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1A5A5-57AB-48D4-A52A-DC9A767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58C7E-A3B2-44AC-A977-7EE0B54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657B8-51B8-408A-992F-F70A7E3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A74A4-BA97-412E-99F5-288CBE4B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Labor hours come from multiple workload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213CE-3975-4E0E-961B-8C19D94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28B2A-1D96-4F46-823D-9585702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75AE-7234-4FE1-B8AD-B2864881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6492E-08B9-4390-B60A-26C32487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2094C-C852-4EF2-9EB6-EC95C5F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Sales workload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1CC8D-3A29-46E0-85F7-9F74C94D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Forecast sales ÷ target sales per labor hour (SPLH).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699A3-7F6F-4A40-A6D3-9F16EF6C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545D4-A388-4600-A2E2-2D23BE5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8A351-2024-4533-9089-DFACBD16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Guest workload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5803A-0523-4046-A9EB-1D2AA4A1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Forecast guests ÷ target guests per labor hour (GPLH).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0EB35-3A00-40AE-AE4A-D9CD1A11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F49AC-DE5A-463B-AD07-BAC0085A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C4C07-1753-4DE1-BF63-68DFFCF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Coverage workload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4657C-BED0-459C-ABF4-E379C884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Minimum role coverage plus fixed, opening, closing, prep, receiving, cleaning, training, and event work.</a:t>
            </a:r>
          </a:p>
        </p:txBody>
      </p:sp>
    </p:spTree>
    <p:extLst>
      <p:ext uri="{BB962C8B-B14F-4D97-AF65-F5344CB8AC3E}">
        <p14:creationId xmlns:p14="http://schemas.microsoft.com/office/powerpoint/2010/main" val="13532447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0268B-80E9-4C29-BDBC-92F3528D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488E8-9D82-4C19-8179-7EBAF9F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19538-A7AA-4303-B736-26A8575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B9AE9-90C1-4D91-87CA-0FF9B5C0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8917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The labor recommendation uses the strongest justified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92771-51B2-4268-B81A-D153C92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CF2C-4CB3-44B8-92D8-F1DA9A36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9736-816B-4E90-BA14-0B58809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2E080-E416-4D62-A80E-928010B1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Sales-based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E89E-E973-4C9B-99D2-160A4710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E4437-6F30-4995-8325-FD304305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Guest-based hours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A3ADA-EF06-4213-BF77-C2DBEAEB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B7C1D-0D75-4255-AA4F-815E51BC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Minimum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357A0-FA92-4045-8127-0DA505F3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52675"/>
            <a:ext cx="9048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MAX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9284A-20DE-482E-8083-20EFCC37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14750"/>
            <a:ext cx="762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+ fixed work + event workload + documented adjustment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05412-5C3B-4A9B-BAD8-B717F82D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81550"/>
            <a:ext cx="6381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E9A23B"/>
                </a:solidFill>
                <a:latin typeface="Aptos"/>
                <a:ea typeface="Aptos"/>
                <a:cs typeface="Aptos"/>
              </a:defRPr>
            </a:pPr>
            <a:r>
              <a:t>= RECOMMENDED LABOR HOURS</a:t>
            </a:r>
          </a:p>
        </p:txBody>
      </p:sp>
    </p:spTree>
    <p:extLst>
      <p:ext uri="{BB962C8B-B14F-4D97-AF65-F5344CB8AC3E}">
        <p14:creationId xmlns:p14="http://schemas.microsoft.com/office/powerpoint/2010/main" val="197182420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FFDB8-A1C1-4AC3-8EAA-C95C4D8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E8091-88FA-40D7-8487-DC9A7102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C98AA-C678-44FC-AF86-80E8F42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3E776-0EE2-4DC9-934C-08956876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Guardrails come before productivity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E8090-3CF7-43CD-A52A-AE5DD0AE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CD7DA-296E-49EE-A935-7E158268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C18EA-8A38-475E-9A48-F292BE66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75FDC-BD4A-4EA9-B674-FC17B58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Never schedule below legal, safety, food-safety, security, or minimum-role requirements.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DA489-CD7E-422B-BB51-13934F0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F62BD-4303-48CF-A078-9472464F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Do not let higher average check disguise the guest workload.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E18AA-E9F0-4DB6-A37B-ACC4302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84149-2DEC-47C3-A9E3-D14742D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Include breaks, setup, closing, cleaning, receiving, training, and handoffs.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92A1B-876A-4675-85B2-4E362223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F2559-BB68-41D9-A02F-889F374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Document every manager adjustment so later review can distinguish judgment from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8AC0A-C90E-4240-9DA6-72601832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34AE0-27C4-4D3F-8B7D-D4C7DCC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 the system to improve deployment—not to justify unsafe understaffing.</a:t>
            </a:r>
          </a:p>
        </p:txBody>
      </p:sp>
    </p:spTree>
    <p:extLst>
      <p:ext uri="{BB962C8B-B14F-4D97-AF65-F5344CB8AC3E}">
        <p14:creationId xmlns:p14="http://schemas.microsoft.com/office/powerpoint/2010/main" val="7533611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EA3A8-2BAC-4D05-B6A9-64FB94D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716BA-0572-42C1-A83F-8AB00872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A63E2-22F6-4625-A7A4-72ECB479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3A884-503F-4C50-B400-B6C59382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Translate demand into production and prep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FC01D-8160-4DDB-A152-83FC78E8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4893-6AA5-420A-92DF-506B440B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6C0FA-7DA0-408F-B4FB-23EE4043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625FF-3E00-4882-8DE7-07913256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Convert forecast guests and mix into expected item or category units.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792F2-923B-42D4-83A5-375C490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6D408-5E0C-46DD-BD59-8B17B4B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Subtract usable on-hand inventory and account for yield.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8FB49-C904-47DD-906C-C88FF0A6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A471B-33AE-4A03-9FAB-FF549FC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Calculate prep quantities, labor minutes, start times, and owners.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E0E6A-139E-4009-AA55-18CA9F37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C45DF-DD81-44B9-A562-764CB0C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Add catering, event, and channel-specific production separately.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25651-982C-4FC5-AC0F-7FFAC26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476EA-798B-4EBF-AC89-6601B63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982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Review waste, stockouts, and service failures after the day to improve the next forecast.</a:t>
            </a:r>
          </a:p>
        </p:txBody>
      </p:sp>
    </p:spTree>
    <p:extLst>
      <p:ext uri="{BB962C8B-B14F-4D97-AF65-F5344CB8AC3E}">
        <p14:creationId xmlns:p14="http://schemas.microsoft.com/office/powerpoint/2010/main" val="4798375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66992-FB26-479F-8A03-A30A656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ABA4E-DB8D-4903-BED5-0140891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BE854-966E-41AD-BA71-B706C18C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CD6AC-84DE-40FC-B9AA-4DA99CAB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Year-to-date analysis deserves a stronger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2D8B6-E7EB-4383-9F8C-7BC2F088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8652E-4822-4B46-8B2A-83D6B36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8CA1F-A884-49A3-9716-72726ED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2B6CB-8394-412C-AB91-77FA36C2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4433F-0A12-4205-BD34-3441855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Normalize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C4076-3441-4812-9779-168DC2A1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Compare equal trading days and explain closures, shifted weekdays, and calendar distortions.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2B183-7A5E-475D-8CA8-E581204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15020-1753-489A-B956-4C50701A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BC4E4-28A9-4B33-BDF0-19C78ABE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5C657-52F5-46A3-AE75-B642924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Separate sales change into guest count, average check, price/mix, channel, and disruption effects.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930F3-2285-4C84-9ADF-41CF5E87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1D846-B6AF-4117-8C23-DA9DC966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00250"/>
            <a:ext cx="349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02037-D001-4A9D-8504-6EAFAB4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66950"/>
            <a:ext cx="311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1E239-3F80-4C55-BD5A-EEA81F2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000375"/>
            <a:ext cx="31178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Show remaining sales to goal, required daily run rate, and likely year-end outcome.</a:t>
            </a:r>
          </a:p>
        </p:txBody>
      </p:sp>
    </p:spTree>
    <p:extLst>
      <p:ext uri="{BB962C8B-B14F-4D97-AF65-F5344CB8AC3E}">
        <p14:creationId xmlns:p14="http://schemas.microsoft.com/office/powerpoint/2010/main" val="20880160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FB193-E7D0-4063-8738-454EA66C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62F1C-A308-4D3B-898D-0382372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4CBB6-91F0-4AD0-9C02-19719CE8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E9DC-182E-4191-BEB5-7A5FACDA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Forecast accuracy creates the learning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C8653-2343-4034-808C-181888AA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B77BF-92B3-49CB-BEAC-4786EA96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9FE7-D96A-4D38-BFAD-B91D3DB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8D520-F84D-4BE7-A02C-E2C39E7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Dollar variance shows operating impact.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B1849-603A-4914-9214-35417789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98CA4-76C9-4B3D-B052-DF8E05FF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Percent error makes large and small days comparable.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72A29-1A0B-4C38-AA4A-F0A8B57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F1F72-AF22-447E-B8CE-7014C194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Absolute percent error measures accuracy without misses canceling one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C7689-B080-48F2-9868-2BC120E3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1E04-AD97-4258-9EF5-94186834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Bias reveals a habit of optimism or conservatism.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E734C-56FE-4B56-B35F-9750F688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36797-EDF2-4543-8803-E191BE1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Labor variance separates forecast quality from schedule execution.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8C926-C9B9-4486-BD32-1C99748C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7D016-F9B5-4E6F-A238-7AF4CAA4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Root-cause review changes future assumptions—not historical results.</a:t>
            </a:r>
          </a:p>
        </p:txBody>
      </p:sp>
    </p:spTree>
    <p:extLst>
      <p:ext uri="{BB962C8B-B14F-4D97-AF65-F5344CB8AC3E}">
        <p14:creationId xmlns:p14="http://schemas.microsoft.com/office/powerpoint/2010/main" val="1644351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E7D7F-BBD5-4699-826E-DCE8C32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6BC5-C296-4FDE-A86B-F88B6667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27D8B-3C2C-4923-B169-54C5287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6402E-B392-4EA9-A752-F126B55C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Search recurring events across every prior year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26CE8-C5FA-4F89-A8D1-0FA035FD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27591-8FAD-4F2D-85D9-F37B101A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C150-7340-47AA-A04D-012478B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8E307-9C2E-4C83-955E-B308836F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Use one consistent event name for the annual car show, festival, Watermelon Parade, and every other recurring local driver.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FCAF3-EB87-463A-9518-6022E67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05A33-203A-483D-8D67-BDC2D0C1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Filter Event History by event, year, weekday/weekend, temperature, rain, event timing, attendance, traffic, sales, guests, or labor.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FE462-1E93-4279-B12A-B6417CB5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4EE9B-1BE0-4E24-9A6D-8D9DD02A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Compare the actual occurrence date and weekday—not merely the same calendar date last year.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C1AB1-D7E5-41B0-9C21-75C85C52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4D6B9-B8BF-41B0-BEB1-8575A0F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Preserve weather timing and observed demand effects so rainy, cold, weekday, and weekend occurrences can be compared correctly.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281EF-76C6-45DC-A5BF-09107A4B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C2DE9-2AA8-451A-B05B-E1511DD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0267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Carry the result into the annual intelligence calendar and next year’s planning action.</a:t>
            </a:r>
          </a:p>
        </p:txBody>
      </p:sp>
    </p:spTree>
    <p:extLst>
      <p:ext uri="{BB962C8B-B14F-4D97-AF65-F5344CB8AC3E}">
        <p14:creationId xmlns:p14="http://schemas.microsoft.com/office/powerpoint/2010/main" val="159548140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39AFA-61C2-4DD7-9055-8F9011CF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C220C-7366-461F-BBF1-15101BFC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9CF5F-5896-4396-8909-F15A64B8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126C1-76A1-4E9A-9576-DFF54B3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Management cadence keeps the system alive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7EF92-DE15-40CC-8A31-68D34DD6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33371-B55C-410C-877F-F6A1478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54848-7B30-4CCC-A902-9DE39D14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66988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81316-F5B9-4A60-89BA-10E1A260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669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FD9CF-82AB-4C1E-81A9-8622742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185988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Daily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89C75-5523-4EA8-A6A5-0498E17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2185988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Record facts, close variances, and preserve the lesson.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9FA25-70D5-4AE3-A583-AEBD7469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1809750"/>
            <a:ext cx="2566988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40348-AF5F-4A37-AB33-20938075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1809750"/>
            <a:ext cx="25669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A35AA-9DFC-4DF3-BB13-9E34BC8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076450"/>
            <a:ext cx="2185988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Weekly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946FB-3B3C-42F8-AA72-D24D45D6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809875"/>
            <a:ext cx="2185988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Approve the next 14 days, labor demand, production implications, risks, and opportunities.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451A-8F3B-4191-B576-1B57CE7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2566988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AA5E9-60FA-44E6-88DB-8B0659E6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25669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4BDB1-D84F-4555-9635-2B4A9E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185988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Monthly / quarterly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06355-4014-41CF-9D4F-4DD5579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2185988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Review YTD, accuracy, bias, driver performance, structural changes, and labor standards.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210F8-86FE-4EFE-AFBD-8C5B4AA8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1809750"/>
            <a:ext cx="2566988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E756B-F375-4C91-8410-7672F3F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1809750"/>
            <a:ext cx="25669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542E1-1293-4723-9DB4-72242B60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076450"/>
            <a:ext cx="2185988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Annual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C4F9C-819A-4C07-90EB-56DA4DAE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809875"/>
            <a:ext cx="2185988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Archive the year and publish the next annual intelligence calendar.</a:t>
            </a:r>
          </a:p>
        </p:txBody>
      </p:sp>
    </p:spTree>
    <p:extLst>
      <p:ext uri="{BB962C8B-B14F-4D97-AF65-F5344CB8AC3E}">
        <p14:creationId xmlns:p14="http://schemas.microsoft.com/office/powerpoint/2010/main" val="16751878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DD99E-121B-4BAA-B906-8206EF5B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3E39D-2485-4784-BC5E-BAD45656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82B6F-72BE-4351-90EB-A13E8716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FF2C5-5A5F-4419-AE6F-365D707C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Implementation: first 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FAFED-7966-43B9-928D-41128E03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5788B-A920-4160-B9CF-16C07305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96187-C709-476A-855C-F40A95AA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DFE8A-9BC4-4243-8504-DA54F69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Week 1 — adopt definitions, ownership, labor targets, minimum coverage, and access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8966-9DFC-4C68-9634-E14FA55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8C427-AB60-4400-BB82-B9FEE4E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Week 2 — begin the journal and build school, event, promotion, weather, and disruption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661B2-9E60-4C2D-A410-DF9C35DD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F54BC-F391-4474-9ADD-0AC6CC61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Week 3 — approve comparable days and publish the first documented 14-day forecast.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72B23-BEB5-4957-B065-5EF12D37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784F0-103C-4A47-A4D0-D4DBD02E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Week 4 — activate labor demand, daypart deployment, production translation, and variance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09757-F1CC-4164-A802-4A791851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2A34A-D3FE-4F03-8044-0D9738D0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Day 60 — calibrate weights and labor standards from actual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1B32A-342B-43B1-AA0F-C70ADC3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E7D1E-4C8E-4893-A0CA-DA4A811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Day 90 — verify adoption, close gaps, and lock the management cadence.</a:t>
            </a:r>
          </a:p>
        </p:txBody>
      </p:sp>
    </p:spTree>
    <p:extLst>
      <p:ext uri="{BB962C8B-B14F-4D97-AF65-F5344CB8AC3E}">
        <p14:creationId xmlns:p14="http://schemas.microsoft.com/office/powerpoint/2010/main" val="3580227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F0291-9673-4B54-99FE-5919352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E70FF-3AEF-43FF-887C-2AC2802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96A89-38CA-4D6A-991E-2DF9993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GRAVITY SALES INTELLIGENCE &amp;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90E54-4AE2-4A57-AD2A-A828782B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A forecast is a documented operating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F2A47-A681-44E9-AA1D-BE2896D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99797-CD3C-47FB-8CA9-C7BD378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D8B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AFB0C-D509-4AE3-9A95-E79A4F82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Record the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36F52-33B5-4F81-A3D2-89E9B40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Explain the drivers.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92E83-B942-454E-A4F9-720D3C3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666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9A23B"/>
                </a:solidFill>
                <a:latin typeface="Aptos"/>
                <a:ea typeface="Aptos"/>
                <a:cs typeface="Aptos"/>
              </a:defRPr>
            </a:pPr>
            <a:r>
              <a:t>Plan the demand and labor.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5B68C-0D34-4873-A0D0-0C21DE30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B3A"/>
                </a:solidFill>
                <a:latin typeface="Aptos"/>
                <a:ea typeface="Aptos"/>
                <a:cs typeface="Aptos"/>
              </a:defRPr>
            </a:pPr>
            <a:r>
              <a:t>Review the miss.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CD473-9259-44C7-8D24-32F9BE4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Preserve the lesson.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E7156-B31A-4C44-82BE-9075255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solidFill>
              <a:srgbClr val="EA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F9463-3513-471E-B2D2-AC5F59D6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9527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rmAutofit fontScale="8375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t>The longer the system is used with discipline, the more accurately it can recognize local patterns—and the less the business depends on one person’s memory.</a:t>
            </a:r>
          </a:p>
        </p:txBody>
      </p:sp>
    </p:spTree>
    <p:extLst>
      <p:ext uri="{BB962C8B-B14F-4D97-AF65-F5344CB8AC3E}">
        <p14:creationId xmlns:p14="http://schemas.microsoft.com/office/powerpoint/2010/main" val="1060244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2026-08-11T05:51:25.1140000Z</dcterms:created>
  <dcterms:modified xsi:type="dcterms:W3CDTF">2026-08-11T05:51:25.1140000Z</dcterms:modified>
</coreProperties>
</file>